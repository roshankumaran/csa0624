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298" r:id="rId4"/>
    <p:sldId id="272" r:id="rId5"/>
    <p:sldId id="299" r:id="rId6"/>
    <p:sldId id="285" r:id="rId7"/>
    <p:sldId id="308" r:id="rId8"/>
    <p:sldId id="302" r:id="rId9"/>
    <p:sldId id="307" r:id="rId10"/>
    <p:sldId id="279" r:id="rId11"/>
    <p:sldId id="291" r:id="rId12"/>
    <p:sldId id="292" r:id="rId13"/>
    <p:sldId id="28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195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F574D-F476-2007-B48F-8324D911B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BDDDA-E13D-7445-C9DF-448C4E1C7B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844E1-A448-407D-CD05-DB5963A84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3157-B29A-45D9-82D7-6EADAF58FC2F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74DFA-40F6-8FCB-5619-744600E7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0534-4C3E-6C06-9E8E-2E04DA33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22D9-CD77-4ABB-BCCB-F41374A3A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3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F817A-1E28-B956-0DE8-FD11ED26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9D8BD-EE71-8B94-75AF-9E779878F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2C586-E918-7F23-CAE8-48C7EB414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3157-B29A-45D9-82D7-6EADAF58FC2F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648BD-189F-1D79-35F9-E29D3802F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509B1-DA72-4F1E-CF5B-D2769B333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22D9-CD77-4ABB-BCCB-F41374A3A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415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FF2AC-AC0C-179C-D1B6-B3FBA3EE9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5F1B8-861B-2E1A-9F5B-9039668AA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A0A02-6C7C-39C9-53F4-7D3606064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3157-B29A-45D9-82D7-6EADAF58FC2F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48D89-8BC5-7944-D85A-49AC1525F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2AEEC-77A6-674A-F958-1EBA2D74E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22D9-CD77-4ABB-BCCB-F41374A3A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104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C6761-B278-08C3-37D6-1F29A3548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C8D05-51A0-09EB-FBB3-1FF1860B53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C7BA4-E1DE-6ECE-AEF7-0455A343F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F57CE-8FF7-4363-DF68-C5A17F009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3157-B29A-45D9-82D7-6EADAF58FC2F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25B02-6212-D779-D3E3-C62E31F34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C26B3-ED8F-5B49-2D0C-B6336CA15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22D9-CD77-4ABB-BCCB-F41374A3A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76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45F8-7C76-4F3E-671C-984504F75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E7953-AF07-41E6-ECE4-622FCAD07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F97D9-4941-FD35-DAE8-1B7699E4B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3BCD12-613D-2897-5608-37A7EDA300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DD3502-E0AC-B359-8F71-4B31A7425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CBE8A0-D706-82D5-964A-BABA9EF91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3157-B29A-45D9-82D7-6EADAF58FC2F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194D22-541F-66BA-1998-230CC650E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98D5A-240D-EB5B-CA8A-C766815D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22D9-CD77-4ABB-BCCB-F41374A3A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667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C41E7-F9C6-3EF5-7D2E-6E297A160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05AA7-EA39-A59A-C6C3-767D9304B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3157-B29A-45D9-82D7-6EADAF58FC2F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FD32B5-68DE-5547-8665-970D5B168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D6BFAB-71A9-A035-22F5-111FD49B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22D9-CD77-4ABB-BCCB-F41374A3A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849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E87FCF-7F3F-FB10-04B9-7BA0C6D3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3157-B29A-45D9-82D7-6EADAF58FC2F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7761B9-6F48-211D-C8C4-74EE72D11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D7D18-3C0E-9745-F30A-04CF0C6F8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22D9-CD77-4ABB-BCCB-F41374A3A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605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EFBAC-9B4A-F10C-082C-5F9246FE8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7E156-F0A7-8BBB-8536-734A15735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CBD81-B81F-15B6-0170-2BCA1128B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16F36-22CD-2E37-4A3C-E48EEC4A5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3157-B29A-45D9-82D7-6EADAF58FC2F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62D05-6B5D-ECA3-276D-FD3647D46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6B330-8166-ABF9-AB62-E2D55FEE3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22D9-CD77-4ABB-BCCB-F41374A3A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94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66112-66CB-69B1-D9CC-38E0A5C13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C0AF27-7E61-9AD2-9481-810934C40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DD3A6-1CC4-B200-2166-380D0A30A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1C64E-0241-ED73-95A1-7A9525B0E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3157-B29A-45D9-82D7-6EADAF58FC2F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15E62-7AFE-AF2F-51F1-F53FC9DBE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753DD-D5BE-ED03-2ACB-729A8076F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22D9-CD77-4ABB-BCCB-F41374A3A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082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270C3-546B-ECC2-1F0A-835BE9E0E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7D920-1E3A-9365-6B01-6EEB29872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6CC0E-0879-B42B-FDF4-A64321B58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3157-B29A-45D9-82D7-6EADAF58FC2F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21DEF-0E32-B1EC-3043-FBD25CFA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C9D02-43EC-C2B7-9428-F2E5DFE9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22D9-CD77-4ABB-BCCB-F41374A3A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178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AA9A98-EC58-12C7-F756-8E3F01C46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F6374F-59F0-BB2A-BBB7-8DBD99858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C3497-E120-6149-5A87-E5ACB2A13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03157-B29A-45D9-82D7-6EADAF58FC2F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2885F-BF3D-FF87-64E2-E96E3BD25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F01FB-2927-B6CF-6BCF-10557E6C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422D9-CD77-4ABB-BCCB-F41374A3A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39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A2E9DE-75E8-C837-8F3F-1E469DB0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3F9C-B79B-1D80-D695-DE13E602C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08820-31DB-FC80-0883-CC8BB205FB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03157-B29A-45D9-82D7-6EADAF58FC2F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A5DF-A05F-D529-F49A-0B0985BB0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9E8C2-EC1E-F7DC-A92F-22DF2EB1C4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8422D9-CD77-4ABB-BCCB-F41374A3A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271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DFB52-3D64-BC97-BA8F-534D34140D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61025"/>
            <a:ext cx="12192000" cy="98159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Crop 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yield Production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Optimization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775A8F-3E27-4625-191A-75603708A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452" y="3429000"/>
            <a:ext cx="2694763" cy="2898648"/>
          </a:xfrm>
        </p:spPr>
        <p:txBody>
          <a:bodyPr>
            <a:noAutofit/>
          </a:bodyPr>
          <a:lstStyle/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By:</a:t>
            </a:r>
          </a:p>
          <a:p>
            <a:pPr algn="l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">
            <a:extLst>
              <a:ext uri="{FF2B5EF4-FFF2-40B4-BE49-F238E27FC236}">
                <a16:creationId xmlns:a16="http://schemas.microsoft.com/office/drawing/2014/main" id="{98852967-29F7-4A0B-B9EE-69D0E78C9CC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534" y="172471"/>
            <a:ext cx="1133954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6" name="图片">
            <a:extLst>
              <a:ext uri="{FF2B5EF4-FFF2-40B4-BE49-F238E27FC236}">
                <a16:creationId xmlns:a16="http://schemas.microsoft.com/office/drawing/2014/main" id="{37A2127F-94CB-FB27-326C-B70D6D9299D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433430" y="117008"/>
            <a:ext cx="1518036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96FC545-C9A4-3CCC-C81F-C2EB186AE2BD}"/>
              </a:ext>
            </a:extLst>
          </p:cNvPr>
          <p:cNvSpPr txBox="1">
            <a:spLocks/>
          </p:cNvSpPr>
          <p:nvPr/>
        </p:nvSpPr>
        <p:spPr>
          <a:xfrm>
            <a:off x="1286054" y="274638"/>
            <a:ext cx="903717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BB5A181-71F9-CC26-043A-F4E28A6C087C}"/>
              </a:ext>
            </a:extLst>
          </p:cNvPr>
          <p:cNvSpPr txBox="1">
            <a:spLocks/>
          </p:cNvSpPr>
          <p:nvPr/>
        </p:nvSpPr>
        <p:spPr>
          <a:xfrm>
            <a:off x="176452" y="3873754"/>
            <a:ext cx="3200473" cy="16576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– Roshan. K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Number 192425014</a:t>
            </a:r>
          </a:p>
          <a:p>
            <a:pPr algn="l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9183F1F-EC9B-25BB-C226-01FAE9944D76}"/>
              </a:ext>
            </a:extLst>
          </p:cNvPr>
          <p:cNvSpPr txBox="1">
            <a:spLocks/>
          </p:cNvSpPr>
          <p:nvPr/>
        </p:nvSpPr>
        <p:spPr>
          <a:xfrm>
            <a:off x="6519672" y="3760725"/>
            <a:ext cx="5495876" cy="18836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GNANAJEYARAMAN RAJARAM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3991BA-FDE4-FF55-7F11-53CEFBE4437F}"/>
              </a:ext>
            </a:extLst>
          </p:cNvPr>
          <p:cNvSpPr txBox="1"/>
          <p:nvPr/>
        </p:nvSpPr>
        <p:spPr>
          <a:xfrm>
            <a:off x="3156845" y="2764204"/>
            <a:ext cx="5102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CSA0624 – DESIGN AND ANALYSIS OF ALGORITHM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6514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94BF-C52A-DFAA-7136-0598CC12B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B5405DF-B8DA-E177-6FD6-B0DE77D453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3339926"/>
            <a:ext cx="7744408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6FBF548-41D8-0D9B-28A4-AA9F6D6A6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409" y="1601902"/>
            <a:ext cx="1051560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heavily depends on proper irrigation and suitable crop selection for optimal yield.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irrigation practices are inefficient and often lead to water wastage.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water management is critical for sustainable agriculture.</a:t>
            </a:r>
          </a:p>
        </p:txBody>
      </p:sp>
      <p:pic>
        <p:nvPicPr>
          <p:cNvPr id="8" name="图片">
            <a:extLst>
              <a:ext uri="{FF2B5EF4-FFF2-40B4-BE49-F238E27FC236}">
                <a16:creationId xmlns:a16="http://schemas.microsoft.com/office/drawing/2014/main" id="{9CA318A8-B16B-4BD7-3079-7F81DA3395C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534" y="172471"/>
            <a:ext cx="1133954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9" name="图片">
            <a:extLst>
              <a:ext uri="{FF2B5EF4-FFF2-40B4-BE49-F238E27FC236}">
                <a16:creationId xmlns:a16="http://schemas.microsoft.com/office/drawing/2014/main" id="{5C3BE8F2-9F2A-E7AE-CD60-3FD8DCB6DFD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433430" y="117008"/>
            <a:ext cx="1518036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7010DD2-008F-9FED-5E23-BE6BA9D1A262}"/>
              </a:ext>
            </a:extLst>
          </p:cNvPr>
          <p:cNvSpPr txBox="1">
            <a:spLocks/>
          </p:cNvSpPr>
          <p:nvPr/>
        </p:nvSpPr>
        <p:spPr>
          <a:xfrm>
            <a:off x="1286054" y="274638"/>
            <a:ext cx="903717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9D6B1E-6F92-EB86-AE67-E2D583240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11" y="3370679"/>
            <a:ext cx="4652867" cy="31099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7F01C2-941B-AE30-F720-43F42F231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624" y="3370679"/>
            <a:ext cx="4762385" cy="310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60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842B3-F118-F4D8-DC2C-85F05EA49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6EFFE77-0657-D762-1285-26F6CF9C4A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3339926"/>
            <a:ext cx="7744408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05FE99C-2844-5171-6EB1-B1C08EE09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409" y="1539393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Technology-Driven Solution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Advancements in IoT enable real-time monitoring of environmental parameters.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techniques provide data-driven decision-making in agriculture.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IoT with ML helps predict irrigation needs and recommend suitable crops.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precision farming using smart irrigation techniques.</a:t>
            </a:r>
          </a:p>
        </p:txBody>
      </p:sp>
      <p:pic>
        <p:nvPicPr>
          <p:cNvPr id="8" name="图片">
            <a:extLst>
              <a:ext uri="{FF2B5EF4-FFF2-40B4-BE49-F238E27FC236}">
                <a16:creationId xmlns:a16="http://schemas.microsoft.com/office/drawing/2014/main" id="{E310D85F-222A-472F-2948-54CBAB7E4DE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534" y="172471"/>
            <a:ext cx="1133954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9" name="图片">
            <a:extLst>
              <a:ext uri="{FF2B5EF4-FFF2-40B4-BE49-F238E27FC236}">
                <a16:creationId xmlns:a16="http://schemas.microsoft.com/office/drawing/2014/main" id="{012BEB2E-8276-4A95-4D81-273B696F85F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433430" y="117008"/>
            <a:ext cx="1518036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B44FD09-19EB-ADE7-BA9A-4EF06A35C716}"/>
              </a:ext>
            </a:extLst>
          </p:cNvPr>
          <p:cNvSpPr txBox="1">
            <a:spLocks/>
          </p:cNvSpPr>
          <p:nvPr/>
        </p:nvSpPr>
        <p:spPr>
          <a:xfrm>
            <a:off x="1286054" y="274638"/>
            <a:ext cx="903717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F46499-C3E2-725A-2402-4F0777426D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666"/>
          <a:stretch>
            <a:fillRect/>
          </a:stretch>
        </p:blipFill>
        <p:spPr>
          <a:xfrm>
            <a:off x="883311" y="3496568"/>
            <a:ext cx="4551274" cy="33413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FE600B-BD4A-F89F-D64D-F36E010D74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416" y="3496567"/>
            <a:ext cx="4736593" cy="334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752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">
            <a:extLst>
              <a:ext uri="{FF2B5EF4-FFF2-40B4-BE49-F238E27FC236}">
                <a16:creationId xmlns:a16="http://schemas.microsoft.com/office/drawing/2014/main" id="{47CAA304-2FDE-0DB3-066C-CB6D0541165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534" y="172471"/>
            <a:ext cx="1133954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4" name="图片">
            <a:extLst>
              <a:ext uri="{FF2B5EF4-FFF2-40B4-BE49-F238E27FC236}">
                <a16:creationId xmlns:a16="http://schemas.microsoft.com/office/drawing/2014/main" id="{A02529B6-E15A-B23C-03D5-D217BAE8F0A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433430" y="117008"/>
            <a:ext cx="1518036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66CC9EF-8F1D-8753-57A0-757FC3883ED4}"/>
              </a:ext>
            </a:extLst>
          </p:cNvPr>
          <p:cNvSpPr txBox="1">
            <a:spLocks/>
          </p:cNvSpPr>
          <p:nvPr/>
        </p:nvSpPr>
        <p:spPr>
          <a:xfrm>
            <a:off x="1286054" y="274638"/>
            <a:ext cx="903717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2AABB13-EE80-A91B-FF81-6236F829A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684023"/>
              </p:ext>
            </p:extLst>
          </p:nvPr>
        </p:nvGraphicFramePr>
        <p:xfrm>
          <a:off x="764747" y="1621971"/>
          <a:ext cx="10790521" cy="5119022"/>
        </p:xfrm>
        <a:graphic>
          <a:graphicData uri="http://schemas.openxmlformats.org/drawingml/2006/table">
            <a:tbl>
              <a:tblPr firstRow="1" bandRow="1"/>
              <a:tblGrid>
                <a:gridCol w="608932">
                  <a:extLst>
                    <a:ext uri="{9D8B030D-6E8A-4147-A177-3AD203B41FA5}">
                      <a16:colId xmlns:a16="http://schemas.microsoft.com/office/drawing/2014/main" val="1328606998"/>
                    </a:ext>
                  </a:extLst>
                </a:gridCol>
                <a:gridCol w="1076913">
                  <a:extLst>
                    <a:ext uri="{9D8B030D-6E8A-4147-A177-3AD203B41FA5}">
                      <a16:colId xmlns:a16="http://schemas.microsoft.com/office/drawing/2014/main" val="1073660509"/>
                    </a:ext>
                  </a:extLst>
                </a:gridCol>
                <a:gridCol w="2093976">
                  <a:extLst>
                    <a:ext uri="{9D8B030D-6E8A-4147-A177-3AD203B41FA5}">
                      <a16:colId xmlns:a16="http://schemas.microsoft.com/office/drawing/2014/main" val="739511616"/>
                    </a:ext>
                  </a:extLst>
                </a:gridCol>
                <a:gridCol w="2721083">
                  <a:extLst>
                    <a:ext uri="{9D8B030D-6E8A-4147-A177-3AD203B41FA5}">
                      <a16:colId xmlns:a16="http://schemas.microsoft.com/office/drawing/2014/main" val="2119451428"/>
                    </a:ext>
                  </a:extLst>
                </a:gridCol>
                <a:gridCol w="2460976">
                  <a:extLst>
                    <a:ext uri="{9D8B030D-6E8A-4147-A177-3AD203B41FA5}">
                      <a16:colId xmlns:a16="http://schemas.microsoft.com/office/drawing/2014/main" val="216678704"/>
                    </a:ext>
                  </a:extLst>
                </a:gridCol>
                <a:gridCol w="1828641">
                  <a:extLst>
                    <a:ext uri="{9D8B030D-6E8A-4147-A177-3AD203B41FA5}">
                      <a16:colId xmlns:a16="http://schemas.microsoft.com/office/drawing/2014/main" val="3970181461"/>
                    </a:ext>
                  </a:extLst>
                </a:gridCol>
              </a:tblGrid>
              <a:tr h="5865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sz="1400" b="0"/>
                        <a:t>Sl.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sz="1400" b="0"/>
                        <a:t>Year of Publication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sz="1400" b="0" dirty="0"/>
                        <a:t>Authors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sz="1400" b="0"/>
                        <a:t>Title of the Publication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sz="1400" b="0"/>
                        <a:t>Findings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sz="1400" b="0" dirty="0"/>
                        <a:t>Limitations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261648"/>
                  </a:ext>
                </a:extLst>
              </a:tr>
              <a:tr h="958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sz="1400" b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sz="1400" b="0" dirty="0"/>
                        <a:t>2021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sz="1400" b="0" dirty="0"/>
                        <a:t>S. S. Patil, R. H. Kulkarni, A. P. Deshmukh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400" b="0" dirty="0"/>
                        <a:t>IoT-Based Smart Irrigation System Using Machine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400" b="0"/>
                        <a:t>ML models improved irrigation efficiency using soil moisture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sz="1400" b="0"/>
                        <a:t>Limited crop recommendation capability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609556"/>
                  </a:ext>
                </a:extLst>
              </a:tr>
              <a:tr h="958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sz="1400" b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sz="1400" b="0" dirty="0"/>
                        <a:t>2022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sz="1400" b="0" dirty="0"/>
                        <a:t>A. Sharma, N. Gupta, R. Verma, S. K. Singh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400" b="0"/>
                        <a:t>Crop Recommendation System Using Machine Learning Techniques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400" b="0" dirty="0"/>
                        <a:t>Naïve Bayes and Decision Trees effectively predicted suitable crops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400" b="0"/>
                        <a:t>Did not include real-time IoT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684631"/>
                  </a:ext>
                </a:extLst>
              </a:tr>
              <a:tr h="82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sz="1400" b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sz="1400" b="0"/>
                        <a:t>2023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sz="1400" b="0" dirty="0"/>
                        <a:t>P. Ramesh, K. Senthil, M. Aravind, L. Karthik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400" b="0" dirty="0"/>
                        <a:t>Smart Agriculture Using IoT and K-Means Clustering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400" b="0"/>
                        <a:t>K-Means clustering helped in zoning agricultural fields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400" b="0"/>
                        <a:t>No irrigation prediction model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272039"/>
                  </a:ext>
                </a:extLst>
              </a:tr>
              <a:tr h="8281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sz="1400" b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sz="1400" b="0"/>
                        <a:t>2024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pt-BR" sz="1400" b="0"/>
                        <a:t>R. Verma, S. Malhotra, P. Choudhary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400" b="0"/>
                        <a:t>PCA-Based Feature Reduction for Smart Farming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400" b="0"/>
                        <a:t>PCA reduced data redundancy and improved model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400" b="0"/>
                        <a:t>Focused only on data analysis, not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910252"/>
                  </a:ext>
                </a:extLst>
              </a:tr>
              <a:tr h="958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sz="1400" b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sz="1400" b="0"/>
                        <a:t>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IN" sz="1400" b="0"/>
                        <a:t>A. Kumar, V. Rajesh, M. N. Prasad, S. Balaji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400" b="0"/>
                        <a:t>Machine Learning-Based Irrigation and Crop Recommendation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400" b="0"/>
                        <a:t>Combined supervised and unsupervised learning improved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sz="1400" b="0" dirty="0"/>
                        <a:t>High dependency on sensor reliability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603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030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FE1A9-3E26-1E63-113F-DAE2DE8C0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">
            <a:extLst>
              <a:ext uri="{FF2B5EF4-FFF2-40B4-BE49-F238E27FC236}">
                <a16:creationId xmlns:a16="http://schemas.microsoft.com/office/drawing/2014/main" id="{E05991A5-5691-FBCF-7134-E856B48B025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534" y="172471"/>
            <a:ext cx="1133954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4" name="图片">
            <a:extLst>
              <a:ext uri="{FF2B5EF4-FFF2-40B4-BE49-F238E27FC236}">
                <a16:creationId xmlns:a16="http://schemas.microsoft.com/office/drawing/2014/main" id="{FA19E286-F06F-DF0B-08EF-339B79116AE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433430" y="117008"/>
            <a:ext cx="1518036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5CD1092-E0D8-4DAF-8053-FF2B5B3E4FE4}"/>
              </a:ext>
            </a:extLst>
          </p:cNvPr>
          <p:cNvSpPr txBox="1">
            <a:spLocks/>
          </p:cNvSpPr>
          <p:nvPr/>
        </p:nvSpPr>
        <p:spPr>
          <a:xfrm>
            <a:off x="1286054" y="274638"/>
            <a:ext cx="903717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C45913-780C-E651-DC56-D0874933F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11" y="1621972"/>
            <a:ext cx="4596593" cy="24893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7733E9-C7EC-CCD5-C237-B31591C337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7895" y="1621972"/>
            <a:ext cx="4596593" cy="24893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37B34E-D2D9-E598-B90E-CA0E3E961B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511" y="4315620"/>
            <a:ext cx="4596593" cy="24921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2AC5685-1CCA-0A2B-51A9-0C55E91B51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7894" y="4315620"/>
            <a:ext cx="4596593" cy="248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553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07B09-75AB-DC1A-EB66-5D30C3B70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EFB15A5-5EA0-8D84-C42A-46743F2FF9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3339926"/>
            <a:ext cx="7744408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9FA412E-D493-9495-8055-7F4DEFA2C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488" y="1464341"/>
            <a:ext cx="9058942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OVERVIEW: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ESP8266-based smart irrigation and crop recommendation system is proposed.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IoT sensors with machine learning techniques.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environmental data is continuously monitored and processed.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optimize water usage and improve crop selection.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 &amp; Preprocessing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moisture, temperature, and humidity sensors collect real-time field 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ESP82 is used for data acquisition and wireless communication.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data is cleaned, normalized, and prepared for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 data is forwarded to machine learning modules.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">
            <a:extLst>
              <a:ext uri="{FF2B5EF4-FFF2-40B4-BE49-F238E27FC236}">
                <a16:creationId xmlns:a16="http://schemas.microsoft.com/office/drawing/2014/main" id="{C4258ABA-857E-03C4-7ABC-057FE73691D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534" y="172471"/>
            <a:ext cx="1133954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9" name="图片">
            <a:extLst>
              <a:ext uri="{FF2B5EF4-FFF2-40B4-BE49-F238E27FC236}">
                <a16:creationId xmlns:a16="http://schemas.microsoft.com/office/drawing/2014/main" id="{2A41187B-5E75-8CD3-66E5-5F9312A7802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433430" y="117008"/>
            <a:ext cx="1518036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3D72541-7A73-2EB7-2967-03FD4C295FC2}"/>
              </a:ext>
            </a:extLst>
          </p:cNvPr>
          <p:cNvSpPr txBox="1">
            <a:spLocks/>
          </p:cNvSpPr>
          <p:nvPr/>
        </p:nvSpPr>
        <p:spPr>
          <a:xfrm>
            <a:off x="1286054" y="274638"/>
            <a:ext cx="903717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778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95C70-26E6-ADAB-A02B-BC2C94354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D5DE41F-31E4-142F-1A51-FB59676D9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488" y="1621971"/>
            <a:ext cx="905894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&amp; Decision Making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is applied to reduce data dimensionality and remove redundancy.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 is used to identify different field zones.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predicts the irrigation water requirement.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Naïve Bayes recommends suitable crops based on environmental conditions.</a:t>
            </a: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">
            <a:extLst>
              <a:ext uri="{FF2B5EF4-FFF2-40B4-BE49-F238E27FC236}">
                <a16:creationId xmlns:a16="http://schemas.microsoft.com/office/drawing/2014/main" id="{A8C2249D-6A56-3CCD-ECCA-E8640F1565B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534" y="172471"/>
            <a:ext cx="1133954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9" name="图片">
            <a:extLst>
              <a:ext uri="{FF2B5EF4-FFF2-40B4-BE49-F238E27FC236}">
                <a16:creationId xmlns:a16="http://schemas.microsoft.com/office/drawing/2014/main" id="{38476C05-8184-FDD2-531F-CDD6C597B42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433430" y="117008"/>
            <a:ext cx="1518036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6E1D626-1BB2-3749-83AB-033A9558F950}"/>
              </a:ext>
            </a:extLst>
          </p:cNvPr>
          <p:cNvSpPr txBox="1">
            <a:spLocks/>
          </p:cNvSpPr>
          <p:nvPr/>
        </p:nvSpPr>
        <p:spPr>
          <a:xfrm>
            <a:off x="1286054" y="274638"/>
            <a:ext cx="903717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836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A58AC-425A-EEF2-ED12-6C9EDD225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EAAD920-15A4-85EF-1D8B-E9F0E11C0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511" y="1595021"/>
            <a:ext cx="2676353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PCA is used in Smart Farming?</a:t>
            </a: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farming systems collect lots of sensor data: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N, P, K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intensity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Naïve Bayes is used in Smart Farming?</a:t>
            </a: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well with small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well for classification problems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">
            <a:extLst>
              <a:ext uri="{FF2B5EF4-FFF2-40B4-BE49-F238E27FC236}">
                <a16:creationId xmlns:a16="http://schemas.microsoft.com/office/drawing/2014/main" id="{CF390BB4-CCDD-307F-437E-32D12D854F0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534" y="172471"/>
            <a:ext cx="1133954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9" name="图片">
            <a:extLst>
              <a:ext uri="{FF2B5EF4-FFF2-40B4-BE49-F238E27FC236}">
                <a16:creationId xmlns:a16="http://schemas.microsoft.com/office/drawing/2014/main" id="{27CD0F0E-3FFE-11C4-B406-173FB81F919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433430" y="117008"/>
            <a:ext cx="1518036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FD47E7F-FD3E-7E0F-44A9-062F7763B731}"/>
              </a:ext>
            </a:extLst>
          </p:cNvPr>
          <p:cNvSpPr txBox="1">
            <a:spLocks/>
          </p:cNvSpPr>
          <p:nvPr/>
        </p:nvSpPr>
        <p:spPr>
          <a:xfrm>
            <a:off x="1286054" y="274638"/>
            <a:ext cx="903717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12AE7605-A16A-8BB3-2D60-F70AE104F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4241" y="1595021"/>
            <a:ext cx="2676353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Linear Regression is used?</a:t>
            </a: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prediction and forecasting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K-Means is used in Smart Farming?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labeled data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group similar soil or climate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decision zones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AC1964-E7FC-4D31-19E4-C94E58B61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864" y="1595021"/>
            <a:ext cx="3700377" cy="18339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CA0F71-E6D3-2A17-515B-2990177507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1866"/>
          <a:stretch>
            <a:fillRect/>
          </a:stretch>
        </p:blipFill>
        <p:spPr>
          <a:xfrm>
            <a:off x="3483864" y="4114800"/>
            <a:ext cx="2962656" cy="25277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19FE8AB-D828-EB6B-276C-D08070073D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4241" y="3782223"/>
            <a:ext cx="2962656" cy="13626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7AA47D8-531B-49D7-E6F3-2632D74E70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4080" y="1642379"/>
            <a:ext cx="2407920" cy="213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545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9DCC2-7E36-392F-02FF-821180507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23ADABA1-9832-44DB-836A-BD1FA0C04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511" y="1677433"/>
            <a:ext cx="1066190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System Performance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successfully integrates IoT and machine learning techniques.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environmental data is effectively processed for decision-making.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irrigation prediction, crop recommendation, and field zoning.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decision support improves farming efficiency.</a:t>
            </a:r>
          </a:p>
        </p:txBody>
      </p:sp>
      <p:pic>
        <p:nvPicPr>
          <p:cNvPr id="10" name="图片">
            <a:extLst>
              <a:ext uri="{FF2B5EF4-FFF2-40B4-BE49-F238E27FC236}">
                <a16:creationId xmlns:a16="http://schemas.microsoft.com/office/drawing/2014/main" id="{C4067C61-8AD9-C6FE-A015-41F7FA391F0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534" y="172471"/>
            <a:ext cx="1133954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11" name="图片">
            <a:extLst>
              <a:ext uri="{FF2B5EF4-FFF2-40B4-BE49-F238E27FC236}">
                <a16:creationId xmlns:a16="http://schemas.microsoft.com/office/drawing/2014/main" id="{F7C608AF-26A8-AD86-400B-7ABEB582ABC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433430" y="117008"/>
            <a:ext cx="1518036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9B86C1B8-E1D9-C7E1-0C0C-301FE666DA86}"/>
              </a:ext>
            </a:extLst>
          </p:cNvPr>
          <p:cNvSpPr txBox="1">
            <a:spLocks/>
          </p:cNvSpPr>
          <p:nvPr/>
        </p:nvSpPr>
        <p:spPr>
          <a:xfrm>
            <a:off x="1374488" y="274637"/>
            <a:ext cx="90589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24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">
            <a:extLst>
              <a:ext uri="{FF2B5EF4-FFF2-40B4-BE49-F238E27FC236}">
                <a16:creationId xmlns:a16="http://schemas.microsoft.com/office/drawing/2014/main" id="{AD8C5319-E5ED-8B61-441D-149CD2633A6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534" y="172471"/>
            <a:ext cx="1133954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10" name="图片">
            <a:extLst>
              <a:ext uri="{FF2B5EF4-FFF2-40B4-BE49-F238E27FC236}">
                <a16:creationId xmlns:a16="http://schemas.microsoft.com/office/drawing/2014/main" id="{7681176C-55B7-B49A-6B74-E0A79B58E26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433430" y="117008"/>
            <a:ext cx="1518036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08954FA-CCDA-D0ED-9670-BB2E3EDBADC9}"/>
              </a:ext>
            </a:extLst>
          </p:cNvPr>
          <p:cNvSpPr txBox="1">
            <a:spLocks/>
          </p:cNvSpPr>
          <p:nvPr/>
        </p:nvSpPr>
        <p:spPr>
          <a:xfrm>
            <a:off x="1286054" y="274638"/>
            <a:ext cx="903717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4C3D60-6BF9-E077-518A-10DD68910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8773" y="1519804"/>
            <a:ext cx="3882837" cy="52214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F1FE38-A15F-95EE-7465-6039C59C6A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9545" y="1519804"/>
            <a:ext cx="3113682" cy="522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155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05948-238A-8C3C-ADDB-BEB1D9C94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B02404FF-540E-B8F0-BE89-2E2287F70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511" y="1621970"/>
            <a:ext cx="10384745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demonstrates the effective use of IoT and machine learning in smart agriculture.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sensor data enables accurate prediction of irrigation requirements.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techniques help in identifying field zones and recommending suitable crops.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irrigation control reduces water wastage and improves efficiency.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precision farming and promotes sustainable agricultural practices.</a:t>
            </a:r>
          </a:p>
        </p:txBody>
      </p:sp>
      <p:pic>
        <p:nvPicPr>
          <p:cNvPr id="8" name="图片">
            <a:extLst>
              <a:ext uri="{FF2B5EF4-FFF2-40B4-BE49-F238E27FC236}">
                <a16:creationId xmlns:a16="http://schemas.microsoft.com/office/drawing/2014/main" id="{C0A1FDA7-473F-710E-BB96-4D62E986BC4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534" y="172471"/>
            <a:ext cx="1133954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10" name="图片">
            <a:extLst>
              <a:ext uri="{FF2B5EF4-FFF2-40B4-BE49-F238E27FC236}">
                <a16:creationId xmlns:a16="http://schemas.microsoft.com/office/drawing/2014/main" id="{4879F128-319D-2622-4BCD-F97F40B089D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433430" y="117008"/>
            <a:ext cx="1518036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62D652D6-5AFC-7757-913B-3CEF90D0EA33}"/>
              </a:ext>
            </a:extLst>
          </p:cNvPr>
          <p:cNvSpPr txBox="1">
            <a:spLocks/>
          </p:cNvSpPr>
          <p:nvPr/>
        </p:nvSpPr>
        <p:spPr>
          <a:xfrm>
            <a:off x="1374488" y="274637"/>
            <a:ext cx="903717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47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A349F-C7EB-172C-F316-339A431A0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50A90CC1-28E8-CA9F-5EC3-22E39D015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03" y="1566507"/>
            <a:ext cx="1038474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S. S. Patil, R. H. Kulkarni, and A. P. Deshmukh, “IoT-based smart irrigation system using machine learning,” in Proc. Int. Conf. Smart Technologies for Smart Nation 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SmartTechCon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IEEE, 2021, pp. 112–117.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A. Sharma, N. Gupta, R. Verma, and S. K. Singh, “Crop recommendation system using machine learning techniques,” in Proc. Int. Conf. Advances in Computing, Communication and Control, IEEE, 2022, pp. 245–250.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P. Ramesh, K. Senthil, M. Aravind, and L. Karthik, “Smart agriculture using IoT and K-means clustering,” in Proc. IEEE Int. Conf. Intelligent Systems and Control (ISCO), 2023, pp. 98–103.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R. Verma, S. Malhotra, and P. Choudhary, “PCA-based feature reduction for smart farming systems,” IEEE Access, vol. 12, pp. 45678–45685, 2024,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10.1109/ACCESS.2024.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A. Kumar, V. Rajesh, M. N. Prasad, and S. Balaji, “Machine learning-based irrigation and crop recommendation system,” in Proc. IEEE Int. Conf. Artificial Intelligence and Smart Agriculture, 2025, pp. 301–306.</a:t>
            </a:r>
          </a:p>
        </p:txBody>
      </p:sp>
      <p:pic>
        <p:nvPicPr>
          <p:cNvPr id="8" name="图片">
            <a:extLst>
              <a:ext uri="{FF2B5EF4-FFF2-40B4-BE49-F238E27FC236}">
                <a16:creationId xmlns:a16="http://schemas.microsoft.com/office/drawing/2014/main" id="{BC7F01D3-645F-0C27-3920-3B84A5B3818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534" y="172471"/>
            <a:ext cx="1133954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10" name="图片">
            <a:extLst>
              <a:ext uri="{FF2B5EF4-FFF2-40B4-BE49-F238E27FC236}">
                <a16:creationId xmlns:a16="http://schemas.microsoft.com/office/drawing/2014/main" id="{6580E1CB-AC24-96AC-C325-C613A9EC737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433430" y="117008"/>
            <a:ext cx="1518036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9A164A69-2BD7-F7E8-AB62-B839992136DD}"/>
              </a:ext>
            </a:extLst>
          </p:cNvPr>
          <p:cNvSpPr txBox="1">
            <a:spLocks/>
          </p:cNvSpPr>
          <p:nvPr/>
        </p:nvSpPr>
        <p:spPr>
          <a:xfrm>
            <a:off x="1374488" y="274637"/>
            <a:ext cx="903717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229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F0EAC-B135-17EC-33AF-82B3FA202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0A0E45BB-FEE4-F83E-CA97-6191D8692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628" y="2767280"/>
            <a:ext cx="631874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6941D33-65AB-82CA-994A-14CE2893A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054" y="274638"/>
            <a:ext cx="9037173" cy="114300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Irrigation and Crop Recommendation System Using Linear Regression, Naïve Bayes, K-Means Clustering, and PCA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">
            <a:extLst>
              <a:ext uri="{FF2B5EF4-FFF2-40B4-BE49-F238E27FC236}">
                <a16:creationId xmlns:a16="http://schemas.microsoft.com/office/drawing/2014/main" id="{5B563913-298E-5EAC-EAF0-D7B0AADDD26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0534" y="172471"/>
            <a:ext cx="1133954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10" name="图片">
            <a:extLst>
              <a:ext uri="{FF2B5EF4-FFF2-40B4-BE49-F238E27FC236}">
                <a16:creationId xmlns:a16="http://schemas.microsoft.com/office/drawing/2014/main" id="{BF383567-67CF-9D34-DCD8-0E8DAF3C848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433430" y="117008"/>
            <a:ext cx="1518036" cy="134733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3512046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1932</TotalTime>
  <Words>941</Words>
  <Application>Microsoft Office PowerPoint</Application>
  <PresentationFormat>Widescreen</PresentationFormat>
  <Paragraphs>161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AI-Based Crop yield Production and Optimization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Smart Irrigation and Crop Recommendation System Using Linear Regression, Naïve Bayes, K-Means Clustering, and PCA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Intermediate Code Simulator for Reversible Programming</dc:title>
  <dc:creator>Ajay</dc:creator>
  <cp:lastModifiedBy>Roshan Kumaran</cp:lastModifiedBy>
  <cp:revision>34</cp:revision>
  <dcterms:created xsi:type="dcterms:W3CDTF">2025-08-07T09:01:54Z</dcterms:created>
  <dcterms:modified xsi:type="dcterms:W3CDTF">2026-08-29T02:54:15Z</dcterms:modified>
</cp:coreProperties>
</file>